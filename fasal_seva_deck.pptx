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114800"/>
            <a:ext cx="9144000" cy="2743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000">
                <a:solidFill>
                  <a:srgbClr val="FFFFFF"/>
                </a:solidFill>
              </a:defRPr>
            </a:pPr>
            <a:r>
              <a:t>Fasal Seva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C8FFC8"/>
                </a:solidFill>
              </a:defRPr>
            </a:pPr>
            <a:r>
              <a:t>Smart Farming for Everyone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91440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1B5E20"/>
                </a:solidFill>
              </a:defRPr>
            </a:pPr>
            <a:r>
              <a:t>The Problem</a:t>
            </a:r>
          </a:p>
        </p:txBody>
      </p:sp>
      <p:pic>
        <p:nvPicPr>
          <p:cNvPr id="4" name="Picture 3" descr="slide2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7543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2860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800">
                <a:solidFill>
                  <a:srgbClr val="323232"/>
                </a:solidFill>
              </a:defRPr>
            </a:pPr>
            <a:r>
              <a:t>Gambling with nature.</a:t>
            </a:r>
          </a:p>
          <a:p>
            <a:pPr>
              <a:spcAft>
                <a:spcPts val="2000"/>
              </a:spcAft>
              <a:defRPr sz="2800">
                <a:solidFill>
                  <a:srgbClr val="323232"/>
                </a:solidFill>
              </a:defRPr>
            </a:pPr>
            <a:r>
              <a:t>86% of farmers rely on guesswork.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91440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1B5E20"/>
                </a:solidFill>
              </a:defRPr>
            </a:pPr>
            <a:r>
              <a:t>The Solution</a:t>
            </a:r>
          </a:p>
        </p:txBody>
      </p:sp>
      <p:pic>
        <p:nvPicPr>
          <p:cNvPr id="4" name="Picture 3" descr="slide3_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7543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2860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800">
                <a:solidFill>
                  <a:srgbClr val="323232"/>
                </a:solidFill>
              </a:defRPr>
            </a:pPr>
            <a:r>
              <a:t>Voice-First Super App.</a:t>
            </a:r>
          </a:p>
          <a:p>
            <a:pPr>
              <a:spcAft>
                <a:spcPts val="2000"/>
              </a:spcAft>
              <a:defRPr sz="2800">
                <a:solidFill>
                  <a:srgbClr val="323232"/>
                </a:solidFill>
              </a:defRPr>
            </a:pPr>
            <a:r>
              <a:t>Satellite + IoT + AI.</a:t>
            </a:r>
          </a:p>
          <a:p>
            <a:pPr>
              <a:spcAft>
                <a:spcPts val="2000"/>
              </a:spcAft>
              <a:defRPr sz="2800">
                <a:solidFill>
                  <a:srgbClr val="323232"/>
                </a:solidFill>
              </a:defRPr>
            </a:pPr>
            <a:r>
              <a:t>Just talk to your farm.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91440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1B5E20"/>
                </a:solidFill>
              </a:defRPr>
            </a:pPr>
            <a:r>
              <a:t>The Technology</a:t>
            </a:r>
          </a:p>
        </p:txBody>
      </p:sp>
      <p:pic>
        <p:nvPicPr>
          <p:cNvPr id="4" name="Picture 3" descr="slide4_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7543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2860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800">
                <a:solidFill>
                  <a:srgbClr val="323232"/>
                </a:solidFill>
              </a:defRPr>
            </a:pPr>
            <a:r>
              <a:t>Real-time NDVI Maps.</a:t>
            </a:r>
          </a:p>
          <a:p>
            <a:pPr>
              <a:spcAft>
                <a:spcPts val="2000"/>
              </a:spcAft>
              <a:defRPr sz="2800">
                <a:solidFill>
                  <a:srgbClr val="323232"/>
                </a:solidFill>
              </a:defRPr>
            </a:pPr>
            <a:r>
              <a:t>IoT Calibration.</a:t>
            </a:r>
          </a:p>
          <a:p>
            <a:pPr>
              <a:spcAft>
                <a:spcPts val="2000"/>
              </a:spcAft>
              <a:defRPr sz="2800">
                <a:solidFill>
                  <a:srgbClr val="323232"/>
                </a:solidFill>
              </a:defRPr>
            </a:pPr>
            <a:r>
              <a:t>Hyper-local weather.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91440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1B5E20"/>
                </a:solidFill>
              </a:defRPr>
            </a:pPr>
            <a:r>
              <a:t>The Vision</a:t>
            </a:r>
          </a:p>
        </p:txBody>
      </p:sp>
      <p:pic>
        <p:nvPicPr>
          <p:cNvPr id="4" name="Picture 3" descr="slide5_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7543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2860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800">
                <a:solidFill>
                  <a:srgbClr val="323232"/>
                </a:solidFill>
              </a:defRPr>
            </a:pPr>
            <a:r>
              <a:t>100% Free.</a:t>
            </a:r>
          </a:p>
          <a:p>
            <a:pPr>
              <a:spcAft>
                <a:spcPts val="2000"/>
              </a:spcAft>
              <a:defRPr sz="2800">
                <a:solidFill>
                  <a:srgbClr val="323232"/>
                </a:solidFill>
              </a:defRPr>
            </a:pPr>
            <a:r>
              <a:t>Data-driven farming as a right, not a luxury.</a:t>
            </a:r>
          </a:p>
          <a:p>
            <a:pPr>
              <a:spcAft>
                <a:spcPts val="2000"/>
              </a:spcAft>
              <a:defRPr sz="2800">
                <a:solidFill>
                  <a:srgbClr val="323232"/>
                </a:solidFill>
              </a:defRPr>
            </a:pPr>
            <a:r>
              <a:t>Ab Kheti Hogi Smart.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